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A6901-F721-4F0D-87AC-4C889FCE355A}" v="1" dt="2025-12-10T06:28:35.93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536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5CDDE-91DC-4419-98C3-24ECEE222091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4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4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4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6EA37-C0DF-4D53-95FB-4EF8AF6C3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0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EA37-C0DF-4D53-95FB-4EF8AF6C3B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401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629" y="334390"/>
            <a:ext cx="276225" cy="226695"/>
          </a:xfrm>
          <a:custGeom>
            <a:avLst/>
            <a:gdLst/>
            <a:ahLst/>
            <a:cxnLst/>
            <a:rect l="l" t="t" r="r" b="b"/>
            <a:pathLst>
              <a:path w="276225" h="226695">
                <a:moveTo>
                  <a:pt x="206883" y="0"/>
                </a:moveTo>
                <a:lnTo>
                  <a:pt x="174128" y="9624"/>
                </a:lnTo>
                <a:lnTo>
                  <a:pt x="147566" y="34690"/>
                </a:lnTo>
                <a:lnTo>
                  <a:pt x="123882" y="69485"/>
                </a:lnTo>
                <a:lnTo>
                  <a:pt x="99760" y="108297"/>
                </a:lnTo>
                <a:lnTo>
                  <a:pt x="71881" y="145414"/>
                </a:lnTo>
                <a:lnTo>
                  <a:pt x="64793" y="168521"/>
                </a:lnTo>
                <a:lnTo>
                  <a:pt x="49180" y="188340"/>
                </a:lnTo>
                <a:lnTo>
                  <a:pt x="26947" y="203207"/>
                </a:lnTo>
                <a:lnTo>
                  <a:pt x="0" y="211454"/>
                </a:lnTo>
                <a:lnTo>
                  <a:pt x="8671" y="217507"/>
                </a:lnTo>
                <a:lnTo>
                  <a:pt x="21082" y="222154"/>
                </a:lnTo>
                <a:lnTo>
                  <a:pt x="36540" y="225135"/>
                </a:lnTo>
                <a:lnTo>
                  <a:pt x="54355" y="226186"/>
                </a:lnTo>
                <a:lnTo>
                  <a:pt x="89789" y="223662"/>
                </a:lnTo>
                <a:lnTo>
                  <a:pt x="125507" y="215899"/>
                </a:lnTo>
                <a:lnTo>
                  <a:pt x="157940" y="202612"/>
                </a:lnTo>
                <a:lnTo>
                  <a:pt x="183515" y="183514"/>
                </a:lnTo>
                <a:lnTo>
                  <a:pt x="157501" y="179958"/>
                </a:lnTo>
                <a:lnTo>
                  <a:pt x="137429" y="168116"/>
                </a:lnTo>
                <a:lnTo>
                  <a:pt x="124239" y="149653"/>
                </a:lnTo>
                <a:lnTo>
                  <a:pt x="118872" y="126237"/>
                </a:lnTo>
                <a:lnTo>
                  <a:pt x="132901" y="140382"/>
                </a:lnTo>
                <a:lnTo>
                  <a:pt x="148431" y="149955"/>
                </a:lnTo>
                <a:lnTo>
                  <a:pt x="165342" y="155384"/>
                </a:lnTo>
                <a:lnTo>
                  <a:pt x="183515" y="157098"/>
                </a:lnTo>
                <a:lnTo>
                  <a:pt x="219606" y="149647"/>
                </a:lnTo>
                <a:lnTo>
                  <a:pt x="248983" y="129397"/>
                </a:lnTo>
                <a:lnTo>
                  <a:pt x="268739" y="99502"/>
                </a:lnTo>
                <a:lnTo>
                  <a:pt x="275971" y="63118"/>
                </a:lnTo>
                <a:lnTo>
                  <a:pt x="272159" y="43987"/>
                </a:lnTo>
                <a:lnTo>
                  <a:pt x="262334" y="23320"/>
                </a:lnTo>
                <a:lnTo>
                  <a:pt x="242056" y="6772"/>
                </a:lnTo>
                <a:lnTo>
                  <a:pt x="206883" y="0"/>
                </a:lnTo>
                <a:close/>
              </a:path>
            </a:pathLst>
          </a:custGeom>
          <a:solidFill>
            <a:srgbClr val="12A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01119" y="171577"/>
            <a:ext cx="419734" cy="354330"/>
          </a:xfrm>
          <a:custGeom>
            <a:avLst/>
            <a:gdLst/>
            <a:ahLst/>
            <a:cxnLst/>
            <a:rect l="l" t="t" r="r" b="b"/>
            <a:pathLst>
              <a:path w="419734" h="354330">
                <a:moveTo>
                  <a:pt x="224408" y="0"/>
                </a:moveTo>
                <a:lnTo>
                  <a:pt x="200436" y="22070"/>
                </a:lnTo>
                <a:lnTo>
                  <a:pt x="168288" y="43878"/>
                </a:lnTo>
                <a:lnTo>
                  <a:pt x="131471" y="66544"/>
                </a:lnTo>
                <a:lnTo>
                  <a:pt x="93487" y="91186"/>
                </a:lnTo>
                <a:lnTo>
                  <a:pt x="57844" y="118923"/>
                </a:lnTo>
                <a:lnTo>
                  <a:pt x="28045" y="150875"/>
                </a:lnTo>
                <a:lnTo>
                  <a:pt x="7595" y="188162"/>
                </a:lnTo>
                <a:lnTo>
                  <a:pt x="0" y="231901"/>
                </a:lnTo>
                <a:lnTo>
                  <a:pt x="5536" y="268374"/>
                </a:lnTo>
                <a:lnTo>
                  <a:pt x="45755" y="328128"/>
                </a:lnTo>
                <a:lnTo>
                  <a:pt x="97534" y="352192"/>
                </a:lnTo>
                <a:lnTo>
                  <a:pt x="117332" y="354250"/>
                </a:lnTo>
                <a:lnTo>
                  <a:pt x="137106" y="352760"/>
                </a:lnTo>
                <a:lnTo>
                  <a:pt x="173656" y="341036"/>
                </a:lnTo>
                <a:lnTo>
                  <a:pt x="215519" y="308228"/>
                </a:lnTo>
                <a:lnTo>
                  <a:pt x="243397" y="271124"/>
                </a:lnTo>
                <a:lnTo>
                  <a:pt x="267519" y="232343"/>
                </a:lnTo>
                <a:lnTo>
                  <a:pt x="291203" y="197586"/>
                </a:lnTo>
                <a:lnTo>
                  <a:pt x="317765" y="172552"/>
                </a:lnTo>
                <a:lnTo>
                  <a:pt x="350520" y="162941"/>
                </a:lnTo>
                <a:lnTo>
                  <a:pt x="407414" y="162941"/>
                </a:lnTo>
                <a:lnTo>
                  <a:pt x="399430" y="141779"/>
                </a:lnTo>
                <a:lnTo>
                  <a:pt x="376759" y="106427"/>
                </a:lnTo>
                <a:lnTo>
                  <a:pt x="347599" y="74802"/>
                </a:lnTo>
                <a:lnTo>
                  <a:pt x="294417" y="34671"/>
                </a:lnTo>
                <a:lnTo>
                  <a:pt x="234569" y="4445"/>
                </a:lnTo>
                <a:lnTo>
                  <a:pt x="231648" y="2921"/>
                </a:lnTo>
                <a:lnTo>
                  <a:pt x="228726" y="1524"/>
                </a:lnTo>
                <a:lnTo>
                  <a:pt x="224408" y="0"/>
                </a:lnTo>
                <a:close/>
              </a:path>
              <a:path w="419734" h="354330">
                <a:moveTo>
                  <a:pt x="407414" y="162941"/>
                </a:moveTo>
                <a:lnTo>
                  <a:pt x="350520" y="162941"/>
                </a:lnTo>
                <a:lnTo>
                  <a:pt x="385617" y="169695"/>
                </a:lnTo>
                <a:lnTo>
                  <a:pt x="405844" y="186213"/>
                </a:lnTo>
                <a:lnTo>
                  <a:pt x="415617" y="206875"/>
                </a:lnTo>
                <a:lnTo>
                  <a:pt x="419353" y="226060"/>
                </a:lnTo>
                <a:lnTo>
                  <a:pt x="419353" y="223138"/>
                </a:lnTo>
                <a:lnTo>
                  <a:pt x="414125" y="180726"/>
                </a:lnTo>
                <a:lnTo>
                  <a:pt x="407414" y="162941"/>
                </a:lnTo>
                <a:close/>
              </a:path>
            </a:pathLst>
          </a:custGeom>
          <a:solidFill>
            <a:srgbClr val="006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1575" y="241553"/>
            <a:ext cx="1892935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380" y="6650492"/>
            <a:ext cx="11702415" cy="1244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9352915" algn="l"/>
                <a:tab pos="11636375" algn="l"/>
              </a:tabLst>
            </a:pP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Presentation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Title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Author |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Date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	©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Capgemini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2017.</a:t>
            </a:r>
            <a:r>
              <a:rPr sz="800" spc="-3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All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rights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reserved</a:t>
            </a:r>
            <a:r>
              <a:rPr sz="800" spc="26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12ABDB"/>
                </a:solidFill>
                <a:latin typeface="Verdana"/>
                <a:cs typeface="Verdana"/>
              </a:rPr>
              <a:t>|</a:t>
            </a:r>
            <a:r>
              <a:rPr sz="800" dirty="0">
                <a:solidFill>
                  <a:srgbClr val="12ABDB"/>
                </a:solidFill>
                <a:latin typeface="Verdana"/>
                <a:cs typeface="Verdana"/>
              </a:rPr>
              <a:t>	</a:t>
            </a:r>
            <a:r>
              <a:rPr sz="800" spc="-50" dirty="0">
                <a:solidFill>
                  <a:srgbClr val="A6A6A6"/>
                </a:solidFill>
                <a:latin typeface="Verdana"/>
                <a:cs typeface="Verdana"/>
              </a:rPr>
              <a:t>1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274654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49911" y="2503946"/>
            <a:ext cx="1134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Achievement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018" y="2310858"/>
            <a:ext cx="4908220" cy="637108"/>
            <a:chOff x="75018" y="2310858"/>
            <a:chExt cx="4908220" cy="637108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18" y="2310858"/>
              <a:ext cx="611187" cy="6127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7151" y="2445655"/>
              <a:ext cx="446087" cy="502311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023724"/>
              </p:ext>
            </p:extLst>
          </p:nvPr>
        </p:nvGraphicFramePr>
        <p:xfrm>
          <a:off x="9309331" y="1961920"/>
          <a:ext cx="2962275" cy="44170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7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045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800" b="1" dirty="0">
                          <a:latin typeface="Verdana"/>
                          <a:cs typeface="Verdana"/>
                        </a:rPr>
                        <a:t>Azure Fundaments 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1174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700" dirty="0">
                          <a:latin typeface="Verdana"/>
                          <a:cs typeface="Verdana"/>
                        </a:rPr>
                        <a:t>Cloud concepts IaaS, PaaS, SaaS, Public, Hybrid. Azure Portal, Resource groups, Azure Subscription.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06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800" b="1" dirty="0">
                          <a:latin typeface="Verdana"/>
                          <a:cs typeface="Verdana"/>
                        </a:rPr>
                        <a:t>Integration Tools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chemeClr val="accent5">
                        <a:lumMod val="60000"/>
                        <a:lumOff val="40000"/>
                        <a:alpha val="1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800" dirty="0">
                          <a:latin typeface="Verdana"/>
                          <a:cs typeface="Verdana"/>
                        </a:rPr>
                        <a:t>Service Bus, Storage Account, Azure Functions, Logic Apps, APIM, Event HUB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574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800" b="1" dirty="0">
                          <a:latin typeface="Verdana"/>
                          <a:cs typeface="Verdana"/>
                        </a:rPr>
                        <a:t>Storage Account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09220" marR="965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800" dirty="0">
                          <a:latin typeface="Verdana"/>
                          <a:cs typeface="Verdana"/>
                        </a:rPr>
                        <a:t>Containers, Blob Storage, Access Tiers, SAS, File Storages.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458">
                <a:tc>
                  <a:txBody>
                    <a:bodyPr/>
                    <a:lstStyle/>
                    <a:p>
                      <a:pPr marL="92710" marR="17653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800" b="1" dirty="0">
                          <a:latin typeface="Verdana"/>
                          <a:cs typeface="Verdana"/>
                        </a:rPr>
                        <a:t>Logic Apps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chemeClr val="accent5">
                        <a:lumMod val="60000"/>
                        <a:lumOff val="40000"/>
                        <a:alpha val="1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220" marR="17589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en-US" sz="800" dirty="0">
                          <a:latin typeface="Verdana"/>
                          <a:cs typeface="Verdana"/>
                        </a:rPr>
                        <a:t>Workflows, Conditions, Actions, Connectors, Integration, Scopes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T="45719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214">
                <a:tc>
                  <a:txBody>
                    <a:bodyPr/>
                    <a:lstStyle/>
                    <a:p>
                      <a:pPr marL="92710" marR="10160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800" b="1" dirty="0">
                          <a:latin typeface="Verdana"/>
                          <a:cs typeface="Verdana"/>
                        </a:rPr>
                        <a:t>Service Bus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09220" marR="1797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800" dirty="0">
                          <a:latin typeface="Verdana"/>
                          <a:cs typeface="Verdana"/>
                        </a:rPr>
                        <a:t>Queue, Topics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765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800" b="1" dirty="0">
                          <a:latin typeface="Verdana"/>
                          <a:cs typeface="Verdana"/>
                        </a:rPr>
                        <a:t>API Management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chemeClr val="accent5">
                        <a:lumMod val="60000"/>
                        <a:lumOff val="40000"/>
                        <a:alpha val="1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800" dirty="0">
                          <a:latin typeface="Verdana"/>
                          <a:cs typeface="Verdana"/>
                        </a:rPr>
                        <a:t>Publish, secure and monitor APIs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979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800" b="1" spc="-10" dirty="0">
                          <a:latin typeface="Verdana"/>
                          <a:cs typeface="Verdana"/>
                        </a:rPr>
                        <a:t>Azure Functions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800" dirty="0">
                          <a:latin typeface="Verdana"/>
                          <a:cs typeface="Verdana"/>
                        </a:rPr>
                        <a:t>Serverless, event-driven code,</a:t>
                      </a: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800" dirty="0">
                          <a:latin typeface="Verdana"/>
                          <a:cs typeface="Verdana"/>
                        </a:rPr>
                        <a:t>Integrations.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459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800" b="1" spc="-10" dirty="0">
                          <a:latin typeface="Verdana"/>
                          <a:cs typeface="Verdana"/>
                        </a:rPr>
                        <a:t>Database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chemeClr val="accent5">
                        <a:lumMod val="60000"/>
                        <a:lumOff val="40000"/>
                        <a:alpha val="1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NoSQL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Basics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and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MySQL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214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800" b="1" dirty="0">
                          <a:latin typeface="Verdana"/>
                          <a:cs typeface="Verdana"/>
                        </a:rPr>
                        <a:t>UI </a:t>
                      </a:r>
                      <a:r>
                        <a:rPr sz="800" b="1" spc="-20" dirty="0">
                          <a:latin typeface="Verdana"/>
                          <a:cs typeface="Verdana"/>
                        </a:rPr>
                        <a:t>Tech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HTML5,</a:t>
                      </a:r>
                      <a:r>
                        <a:rPr sz="8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CSS3,JavaScript,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ES6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214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800" b="1" spc="-10" dirty="0">
                          <a:latin typeface="Verdana"/>
                          <a:cs typeface="Verdana"/>
                        </a:rPr>
                        <a:t>Tools</a:t>
                      </a:r>
                      <a:r>
                        <a:rPr lang="en-US" sz="800" b="1" spc="-10" dirty="0">
                          <a:latin typeface="Verdana"/>
                          <a:cs typeface="Verdana"/>
                        </a:rPr>
                        <a:t> 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T="45719" marB="0">
                    <a:solidFill>
                      <a:schemeClr val="accent5">
                        <a:lumMod val="60000"/>
                        <a:lumOff val="40000"/>
                        <a:alpha val="1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Git,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Postman,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en-US" sz="800" spc="-25" dirty="0">
                          <a:latin typeface="Verdana"/>
                          <a:cs typeface="Verdana"/>
                        </a:rPr>
                        <a:t>Swagger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solidFill>
                      <a:srgbClr val="12ABDB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53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800" b="1" dirty="0">
                          <a:latin typeface="Verdana"/>
                          <a:cs typeface="Verdana"/>
                        </a:rPr>
                        <a:t>C#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109220" marR="3060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Verdana"/>
                        </a:rPr>
                        <a:t>C# Basics, OOPS, Generics, Collections, Exception Handling</a:t>
                      </a:r>
                      <a:endParaRPr sz="8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Verdana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3834948108"/>
                  </a:ext>
                </a:extLst>
              </a:tr>
              <a:tr h="583646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800" b="1" dirty="0">
                          <a:latin typeface="Verdana"/>
                          <a:cs typeface="Verdana"/>
                        </a:rPr>
                        <a:t>ASP.NET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109220" marR="3060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latin typeface="Verdana"/>
                          <a:ea typeface="+mn-ea"/>
                          <a:cs typeface="Verdana"/>
                        </a:rPr>
                        <a:t>ASP.NET Core Basics, Model Binding, Dependency Injections, Entity Framework, JWT Authentication</a:t>
                      </a:r>
                      <a:endParaRPr sz="800" dirty="0">
                        <a:solidFill>
                          <a:schemeClr val="tx1"/>
                        </a:solidFill>
                        <a:latin typeface="Verdana"/>
                        <a:ea typeface="+mn-ea"/>
                        <a:cs typeface="Verdana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590941134"/>
                  </a:ext>
                </a:extLst>
              </a:tr>
              <a:tr h="421599">
                <a:tc>
                  <a:txBody>
                    <a:bodyPr/>
                    <a:lstStyle/>
                    <a:p>
                      <a:pPr marL="92710" algn="just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800" b="1" dirty="0">
                          <a:latin typeface="Verdana"/>
                          <a:cs typeface="Verdana"/>
                        </a:rPr>
                        <a:t>Add</a:t>
                      </a:r>
                      <a:r>
                        <a:rPr sz="800" b="1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b="1" dirty="0">
                          <a:latin typeface="Verdana"/>
                          <a:cs typeface="Verdana"/>
                        </a:rPr>
                        <a:t>On </a:t>
                      </a:r>
                      <a:r>
                        <a:rPr sz="800" b="1" spc="-10" dirty="0">
                          <a:latin typeface="Verdana"/>
                          <a:cs typeface="Verdana"/>
                        </a:rPr>
                        <a:t>skills</a:t>
                      </a:r>
                      <a:endParaRPr sz="800" b="1" dirty="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B w="12700">
                      <a:solidFill>
                        <a:srgbClr val="12ABDB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9220" marR="3060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Communication,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Team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management. 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Peer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learning,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Leadership</a:t>
                      </a:r>
                      <a:endParaRPr sz="8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B w="12700">
                      <a:solidFill>
                        <a:srgbClr val="12ABDB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946662" y="2733549"/>
            <a:ext cx="32920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latin typeface="Verdana"/>
                <a:cs typeface="Verdana"/>
              </a:rPr>
              <a:t>Employee Filter Processing System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4952" y="517327"/>
            <a:ext cx="2408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Analyst/Software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Engineer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6205" y="2470912"/>
            <a:ext cx="4003205" cy="47705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Strengths</a:t>
            </a:r>
            <a:endParaRPr lang="en-US" sz="1200" b="1" spc="-10" dirty="0">
              <a:solidFill>
                <a:srgbClr val="006FAC"/>
              </a:solidFill>
              <a:latin typeface="Verdana"/>
              <a:cs typeface="Verdana"/>
            </a:endParaRPr>
          </a:p>
          <a:p>
            <a:pPr marL="31115">
              <a:lnSpc>
                <a:spcPct val="100000"/>
              </a:lnSpc>
              <a:spcBef>
                <a:spcPts val="340"/>
              </a:spcBef>
            </a:pPr>
            <a:endParaRPr sz="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100" b="1" dirty="0">
                <a:latin typeface="Verdana"/>
                <a:cs typeface="Verdana"/>
              </a:rPr>
              <a:t>Azure Integration Services and </a:t>
            </a:r>
            <a:r>
              <a:rPr lang="en-US" sz="1100" b="1" dirty="0" err="1">
                <a:latin typeface="Verdana"/>
                <a:cs typeface="Verdana"/>
              </a:rPr>
              <a:t>.Net</a:t>
            </a:r>
            <a:r>
              <a:rPr lang="en-US" sz="1100" b="1" dirty="0">
                <a:latin typeface="Verdana"/>
                <a:cs typeface="Verdana"/>
              </a:rPr>
              <a:t> Full Stack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794952" y="68780"/>
            <a:ext cx="239941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Prachi Gautam</a:t>
            </a:r>
            <a:endParaRPr spc="-10" dirty="0"/>
          </a:p>
        </p:txBody>
      </p:sp>
      <p:sp>
        <p:nvSpPr>
          <p:cNvPr id="22" name="object 22"/>
          <p:cNvSpPr txBox="1"/>
          <p:nvPr/>
        </p:nvSpPr>
        <p:spPr>
          <a:xfrm>
            <a:off x="2779712" y="926413"/>
            <a:ext cx="3572888" cy="1035540"/>
          </a:xfrm>
          <a:prstGeom prst="rect">
            <a:avLst/>
          </a:prstGeom>
          <a:solidFill>
            <a:schemeClr val="accent1">
              <a:alpha val="68000"/>
            </a:schemeClr>
          </a:solidFill>
        </p:spPr>
        <p:txBody>
          <a:bodyPr vert="horz" wrap="square" lIns="0" tIns="67945" rIns="0" bIns="0" rtlCol="0">
            <a:spAutoFit/>
          </a:bodyPr>
          <a:lstStyle/>
          <a:p>
            <a:pPr marL="38100">
              <a:spcBef>
                <a:spcPts val="535"/>
              </a:spcBef>
            </a:pPr>
            <a:r>
              <a:rPr sz="1650" b="1" baseline="2525" dirty="0">
                <a:solidFill>
                  <a:srgbClr val="FFFFFF"/>
                </a:solidFill>
                <a:latin typeface="Verdana"/>
                <a:cs typeface="Verdana"/>
              </a:rPr>
              <a:t>Base</a:t>
            </a:r>
            <a:r>
              <a:rPr sz="1650" b="1" spc="-60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baseline="2525" dirty="0">
                <a:solidFill>
                  <a:srgbClr val="FFFFFF"/>
                </a:solidFill>
                <a:latin typeface="Verdana"/>
                <a:cs typeface="Verdana"/>
              </a:rPr>
              <a:t>Location:</a:t>
            </a:r>
            <a:r>
              <a:rPr sz="1650" b="1" spc="202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Bangalore</a:t>
            </a:r>
            <a:endParaRPr lang="en-US" sz="1100" spc="-10" dirty="0">
              <a:latin typeface="Verdana"/>
              <a:cs typeface="Verdana"/>
            </a:endParaRPr>
          </a:p>
          <a:p>
            <a:pPr marL="38100">
              <a:spcBef>
                <a:spcPts val="535"/>
              </a:spcBef>
            </a:pPr>
            <a:r>
              <a:rPr sz="1650" b="1" baseline="-7575" dirty="0">
                <a:solidFill>
                  <a:srgbClr val="FFFFFF"/>
                </a:solidFill>
                <a:latin typeface="Verdana"/>
                <a:cs typeface="Verdana"/>
              </a:rPr>
              <a:t>Email</a:t>
            </a:r>
            <a:r>
              <a:rPr sz="1650" b="1" spc="-22" baseline="-75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baseline="-7575" dirty="0">
                <a:solidFill>
                  <a:srgbClr val="FFFFFF"/>
                </a:solidFill>
                <a:latin typeface="Verdana"/>
                <a:cs typeface="Verdana"/>
              </a:rPr>
              <a:t>ID:</a:t>
            </a:r>
            <a:r>
              <a:rPr lang="en-US" sz="1650" b="1" baseline="-7575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lang="en-US" sz="1650" baseline="-7575" dirty="0">
                <a:solidFill>
                  <a:srgbClr val="FFFFFF"/>
                </a:solidFill>
                <a:latin typeface="Verdana"/>
                <a:cs typeface="Verdana"/>
              </a:rPr>
              <a:t>Prachi.a.gautam@capgemini.com</a:t>
            </a:r>
            <a:endParaRPr sz="1100" dirty="0">
              <a:latin typeface="Verdana"/>
              <a:cs typeface="Verdana"/>
            </a:endParaRPr>
          </a:p>
          <a:p>
            <a:pPr marL="38100">
              <a:spcBef>
                <a:spcPts val="690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aseline="2525" dirty="0">
                <a:solidFill>
                  <a:srgbClr val="FFFFFF"/>
                </a:solidFill>
                <a:latin typeface="Verdana"/>
                <a:cs typeface="Verdana"/>
              </a:rPr>
              <a:t>+91</a:t>
            </a:r>
            <a:r>
              <a:rPr sz="1650" spc="-30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US" sz="1650" spc="-15" baseline="2525" dirty="0">
                <a:solidFill>
                  <a:srgbClr val="FFFFFF"/>
                </a:solidFill>
                <a:latin typeface="Verdana"/>
                <a:cs typeface="Verdana"/>
              </a:rPr>
              <a:t>8319113292</a:t>
            </a:r>
            <a:endParaRPr sz="1650" baseline="2525" dirty="0">
              <a:latin typeface="Verdana"/>
              <a:cs typeface="Verdana"/>
            </a:endParaRPr>
          </a:p>
          <a:p>
            <a:pPr marL="43815">
              <a:spcBef>
                <a:spcPts val="430"/>
              </a:spcBef>
            </a:pPr>
            <a:r>
              <a:rPr sz="1650" b="1" baseline="2525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r>
              <a:rPr sz="1650" b="1" spc="284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Verdana"/>
                <a:cs typeface="Verdana"/>
              </a:rPr>
              <a:t>A4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49402" y="346719"/>
            <a:ext cx="2263775" cy="1350563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5415" marR="5080" indent="-133350">
              <a:lnSpc>
                <a:spcPct val="120400"/>
              </a:lnSpc>
              <a:spcBef>
                <a:spcPts val="280"/>
              </a:spcBef>
            </a:pPr>
            <a:r>
              <a:rPr sz="1400" b="1" dirty="0">
                <a:solidFill>
                  <a:srgbClr val="006FAC"/>
                </a:solidFill>
                <a:latin typeface="Verdana"/>
                <a:cs typeface="Verdana"/>
              </a:rPr>
              <a:t>Education</a:t>
            </a:r>
            <a:r>
              <a:rPr sz="1200" b="1" spc="-30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endParaRPr lang="en-US" sz="1200" b="1" spc="-30" dirty="0">
              <a:solidFill>
                <a:srgbClr val="006FAC"/>
              </a:solidFill>
              <a:latin typeface="Verdana"/>
              <a:cs typeface="Verdana"/>
            </a:endParaRPr>
          </a:p>
          <a:p>
            <a:pPr marL="145415" marR="5080" indent="-133350">
              <a:lnSpc>
                <a:spcPct val="120400"/>
              </a:lnSpc>
              <a:spcBef>
                <a:spcPts val="280"/>
              </a:spcBef>
            </a:pPr>
            <a:r>
              <a:rPr lang="en-IN" sz="1200" b="1" spc="-30" dirty="0">
                <a:solidFill>
                  <a:srgbClr val="006FAC"/>
                </a:solidFill>
                <a:latin typeface="Verdana"/>
                <a:cs typeface="Verdana"/>
              </a:rPr>
              <a:t>	</a:t>
            </a:r>
            <a:r>
              <a:rPr lang="en-IN" sz="1000" spc="-10" dirty="0">
                <a:solidFill>
                  <a:schemeClr val="tx1"/>
                </a:solidFill>
                <a:latin typeface="Verdana"/>
                <a:cs typeface="Verdana"/>
              </a:rPr>
              <a:t>M</a:t>
            </a:r>
            <a:r>
              <a:rPr lang="en-IN" sz="1000" dirty="0">
                <a:latin typeface="Verdana"/>
                <a:cs typeface="Verdana"/>
              </a:rPr>
              <a:t>asters of Computer Applications:</a:t>
            </a:r>
            <a:r>
              <a:rPr lang="en-IN" sz="1000" spc="-45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2023</a:t>
            </a:r>
            <a:r>
              <a:rPr lang="en-IN" sz="1000" spc="-10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–</a:t>
            </a:r>
            <a:r>
              <a:rPr lang="en-IN" sz="1000" spc="-30" dirty="0">
                <a:latin typeface="Verdana"/>
                <a:cs typeface="Verdana"/>
              </a:rPr>
              <a:t> </a:t>
            </a:r>
            <a:r>
              <a:rPr lang="en-IN" sz="1000" spc="-20" dirty="0">
                <a:latin typeface="Verdana"/>
                <a:cs typeface="Verdana"/>
              </a:rPr>
              <a:t>2025</a:t>
            </a:r>
          </a:p>
          <a:p>
            <a:pPr marL="145415" marR="5080" indent="-133350">
              <a:lnSpc>
                <a:spcPct val="120400"/>
              </a:lnSpc>
              <a:spcBef>
                <a:spcPts val="280"/>
              </a:spcBef>
            </a:pPr>
            <a:r>
              <a:rPr lang="en-US" sz="1000" dirty="0">
                <a:latin typeface="Verdana"/>
                <a:cs typeface="Verdana"/>
              </a:rPr>
              <a:t>	Bachelors of Computer Applications: 2019-2022</a:t>
            </a:r>
          </a:p>
          <a:p>
            <a:pPr marL="145415" marR="5080" indent="-133350">
              <a:lnSpc>
                <a:spcPct val="120400"/>
              </a:lnSpc>
              <a:spcBef>
                <a:spcPts val="280"/>
              </a:spcBef>
            </a:pPr>
            <a:r>
              <a:rPr lang="en-US" sz="1000" dirty="0">
                <a:latin typeface="Verdana"/>
                <a:cs typeface="Verdana"/>
              </a:rPr>
              <a:t>	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349402" y="1614988"/>
            <a:ext cx="611187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006FAC"/>
                </a:solidFill>
                <a:latin typeface="Verdana"/>
                <a:cs typeface="Verdana"/>
              </a:rPr>
              <a:t>Skills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358449-87E8-42C8-4564-3A524C0C72A5}"/>
              </a:ext>
            </a:extLst>
          </p:cNvPr>
          <p:cNvSpPr txBox="1"/>
          <p:nvPr/>
        </p:nvSpPr>
        <p:spPr>
          <a:xfrm>
            <a:off x="410568" y="3067580"/>
            <a:ext cx="40540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Hands-on experience in designing and implementing integration solutions using </a:t>
            </a:r>
            <a:r>
              <a:rPr lang="en-US" sz="1000" b="1" dirty="0"/>
              <a:t>Microsoft Azure. </a:t>
            </a:r>
            <a:r>
              <a:rPr lang="en-US" sz="1000" dirty="0"/>
              <a:t>Proficient in utilizing </a:t>
            </a:r>
            <a:r>
              <a:rPr lang="en-US" sz="1000" b="1" dirty="0"/>
              <a:t>Logic Apps</a:t>
            </a:r>
            <a:r>
              <a:rPr lang="en-US" sz="1000" dirty="0"/>
              <a:t> for workflow automation, Azure Functions for serverless execution, and </a:t>
            </a:r>
            <a:r>
              <a:rPr lang="en-US" sz="1000" b="1" dirty="0"/>
              <a:t>API Management </a:t>
            </a:r>
            <a:r>
              <a:rPr lang="en-US" sz="1000" dirty="0"/>
              <a:t>for secure publishing and monitoring of APIs. Skilled in building event-driven and messaging-based architectures using </a:t>
            </a:r>
            <a:r>
              <a:rPr lang="en-US" sz="1000" b="1" dirty="0"/>
              <a:t>Azure Service Bus, Storage Accounts</a:t>
            </a:r>
            <a:r>
              <a:rPr lang="en-US" sz="1000" dirty="0"/>
              <a:t>, </a:t>
            </a:r>
            <a:r>
              <a:rPr lang="en-US" sz="1000" b="1" dirty="0"/>
              <a:t>Event Grid, </a:t>
            </a:r>
            <a:r>
              <a:rPr lang="en-US" sz="1000" dirty="0"/>
              <a:t>and </a:t>
            </a:r>
            <a:r>
              <a:rPr lang="en-US" sz="1000" b="1" dirty="0"/>
              <a:t>Event Hubs </a:t>
            </a:r>
            <a:r>
              <a:rPr lang="en-US" sz="1000" dirty="0"/>
              <a:t>to enable scalable and reliable communication across distributed systems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Proficient in developing scalable and maintainable applications using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.NET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and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ASP.NET Core Web API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. Experienced with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Entity Framework Core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for data access,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LINQ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for querying and implementing </a:t>
            </a:r>
            <a:r>
              <a:rPr lang="en-US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RESTfull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 APIs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with authentication and authorization using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JWT, Identity and Role-Based Access Control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. Used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design patterns, repository and service layers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, and integrating with SQL Server and Azure services for backend solutions.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Actively learning about Gen-AI and I did  projects.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Good Communication skills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in English, Hindi, and able to work actively with teams.</a:t>
            </a:r>
            <a:endParaRPr lang="en-IN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3885F3-A9F4-DACB-47FE-68EA8546CABE}"/>
              </a:ext>
            </a:extLst>
          </p:cNvPr>
          <p:cNvSpPr txBox="1"/>
          <p:nvPr/>
        </p:nvSpPr>
        <p:spPr>
          <a:xfrm>
            <a:off x="4878254" y="2934467"/>
            <a:ext cx="41953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- Designed and deployed a </a:t>
            </a:r>
            <a:r>
              <a:rPr lang="en-US" sz="1000" b="1" dirty="0"/>
              <a:t>Logic App </a:t>
            </a:r>
            <a:r>
              <a:rPr lang="en-US" sz="1000" dirty="0"/>
              <a:t>to automatically filter employee data based on job profiles, routing relevant details to designated </a:t>
            </a:r>
            <a:r>
              <a:rPr lang="en-US" sz="1000" b="1" dirty="0"/>
              <a:t>Blob Storage containers and Service Bus queues</a:t>
            </a:r>
            <a:r>
              <a:rPr lang="en-US" sz="1000" dirty="0"/>
              <a:t>. Implemented robust error handling mechanisms and configured IP filtering for </a:t>
            </a:r>
            <a:r>
              <a:rPr lang="en-US" sz="1000" b="1" dirty="0"/>
              <a:t>API</a:t>
            </a:r>
            <a:r>
              <a:rPr lang="en-US" sz="1000" dirty="0"/>
              <a:t> </a:t>
            </a:r>
            <a:r>
              <a:rPr lang="en-US" sz="1000" b="1" dirty="0"/>
              <a:t>Management</a:t>
            </a:r>
            <a:r>
              <a:rPr lang="en-US" sz="1000" dirty="0"/>
              <a:t>, which securely receives employee data in</a:t>
            </a:r>
            <a:r>
              <a:rPr lang="en-US" sz="1000" b="1" dirty="0"/>
              <a:t> JSON </a:t>
            </a:r>
            <a:r>
              <a:rPr lang="en-US" sz="1000" dirty="0"/>
              <a:t>format and triggers the </a:t>
            </a:r>
            <a:r>
              <a:rPr lang="en-US" sz="1000" b="1" dirty="0"/>
              <a:t>Logic App </a:t>
            </a:r>
            <a:r>
              <a:rPr lang="en-US" sz="1000" dirty="0"/>
              <a:t>for further processing.</a:t>
            </a:r>
            <a:endParaRPr lang="en-US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6BD282-A028-9C15-AA3A-9CA4FFC18085}"/>
              </a:ext>
            </a:extLst>
          </p:cNvPr>
          <p:cNvSpPr txBox="1"/>
          <p:nvPr/>
        </p:nvSpPr>
        <p:spPr>
          <a:xfrm>
            <a:off x="4882114" y="3883182"/>
            <a:ext cx="3421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Crop Deal </a:t>
            </a:r>
            <a:endParaRPr lang="en-IN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1E0EC5-9AF4-2BF6-5285-AE5C8542AD77}"/>
              </a:ext>
            </a:extLst>
          </p:cNvPr>
          <p:cNvSpPr txBox="1"/>
          <p:nvPr/>
        </p:nvSpPr>
        <p:spPr>
          <a:xfrm>
            <a:off x="4760194" y="4087429"/>
            <a:ext cx="421329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Developed a scalable application using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ASP.NET Core Web API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and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Entity Framework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. Implemented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role-based access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with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JWT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, enabling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Farmers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to sell crops directly to the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Dealers,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eliminating the need for middleman and ensuring the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Fair Pricing.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Using a clean architecture with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Repository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Service layers 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and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Swagger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for </a:t>
            </a:r>
            <a:r>
              <a:rPr lang="en-US" sz="1000" b="1" dirty="0">
                <a:latin typeface="Verdana" panose="020B0604030504040204" pitchFamily="34" charset="0"/>
                <a:ea typeface="Verdana" panose="020B0604030504040204" pitchFamily="34" charset="0"/>
              </a:rPr>
              <a:t>API documentation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   Symptom Checker</a:t>
            </a:r>
          </a:p>
          <a:p>
            <a:r>
              <a:rPr lang="en-US" sz="1100" dirty="0"/>
              <a:t>  Developed an AI-powered web application that analyzes user     symptoms to provide health suggestions and facilitate doctor appointments. Integrated GenAI for intelligent symptom interpretation with ASP.NET backend and Angular frontend.</a:t>
            </a:r>
            <a:endParaRPr lang="en-IN" sz="11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object 23">
            <a:extLst>
              <a:ext uri="{FF2B5EF4-FFF2-40B4-BE49-F238E27FC236}">
                <a16:creationId xmlns:a16="http://schemas.microsoft.com/office/drawing/2014/main" id="{63F645ED-31B0-51F6-B580-FE0DC696786C}"/>
              </a:ext>
            </a:extLst>
          </p:cNvPr>
          <p:cNvSpPr txBox="1"/>
          <p:nvPr/>
        </p:nvSpPr>
        <p:spPr>
          <a:xfrm>
            <a:off x="4899219" y="6053603"/>
            <a:ext cx="3341688" cy="953531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5415" marR="5080" indent="-133350">
              <a:lnSpc>
                <a:spcPct val="120400"/>
              </a:lnSpc>
              <a:spcBef>
                <a:spcPts val="280"/>
              </a:spcBef>
            </a:pPr>
            <a:r>
              <a:rPr lang="en-US" sz="1200" b="1" spc="-30" dirty="0">
                <a:solidFill>
                  <a:srgbClr val="006FAC"/>
                </a:solidFill>
                <a:latin typeface="Verdana"/>
                <a:cs typeface="Verdana"/>
              </a:rPr>
              <a:t>Certifications</a:t>
            </a:r>
            <a:r>
              <a:rPr sz="1200" b="1" spc="-30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endParaRPr lang="en-US" sz="1200" b="1" spc="-30" dirty="0">
              <a:solidFill>
                <a:srgbClr val="006FAC"/>
              </a:solidFill>
              <a:latin typeface="Verdana"/>
              <a:cs typeface="Verdana"/>
            </a:endParaRPr>
          </a:p>
          <a:p>
            <a:r>
              <a:rPr lang="en-IN" sz="1200" b="1" spc="-30" dirty="0">
                <a:solidFill>
                  <a:srgbClr val="006FAC"/>
                </a:solidFill>
                <a:latin typeface="Verdana"/>
              </a:rPr>
              <a:t>   </a:t>
            </a:r>
            <a:r>
              <a:rPr lang="en-US" sz="1000" dirty="0">
                <a:latin typeface="Verdana"/>
              </a:rPr>
              <a:t>AZ-900: Microsoft Azure Fundamentals</a:t>
            </a:r>
          </a:p>
          <a:p>
            <a:endParaRPr lang="en-IN" sz="1000" dirty="0">
              <a:latin typeface="Verdana"/>
            </a:endParaRPr>
          </a:p>
          <a:p>
            <a:r>
              <a:rPr lang="en-US" sz="1000" dirty="0">
                <a:latin typeface="Verdana"/>
              </a:rPr>
              <a:t>   Azure Serverless Functions and Logic Apps</a:t>
            </a:r>
            <a:endParaRPr lang="en-IN" sz="1000" dirty="0">
              <a:latin typeface="Verdana"/>
            </a:endParaRPr>
          </a:p>
          <a:p>
            <a:pPr marL="145415" marR="5080" indent="-133350">
              <a:lnSpc>
                <a:spcPct val="120400"/>
              </a:lnSpc>
              <a:spcBef>
                <a:spcPts val="280"/>
              </a:spcBef>
            </a:pPr>
            <a:r>
              <a:rPr lang="en-US" sz="1000" dirty="0">
                <a:latin typeface="Verdana"/>
                <a:cs typeface="Verdana"/>
              </a:rPr>
              <a:t>	</a:t>
            </a:r>
          </a:p>
        </p:txBody>
      </p:sp>
      <p:pic>
        <p:nvPicPr>
          <p:cNvPr id="18" name="Picture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8DAD907-E723-A32C-37E1-80634972F7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8572"/>
            <a:ext cx="1901040" cy="1901040"/>
          </a:xfrm>
          <a:prstGeom prst="ellipse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2AD94E-1EEB-03E4-302C-79BEBB7C0504}"/>
              </a:ext>
            </a:extLst>
          </p:cNvPr>
          <p:cNvSpPr txBox="1"/>
          <p:nvPr/>
        </p:nvSpPr>
        <p:spPr>
          <a:xfrm>
            <a:off x="5616966" y="1849589"/>
            <a:ext cx="3595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7D4E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d7b4779-ce31-4165-a8f7-a787da7cfe2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2F85D8BD30D4BB14A803A7BB1AE82" ma:contentTypeVersion="2" ma:contentTypeDescription="Create a new document." ma:contentTypeScope="" ma:versionID="67a6ea00a045293c230241c040372548">
  <xsd:schema xmlns:xsd="http://www.w3.org/2001/XMLSchema" xmlns:xs="http://www.w3.org/2001/XMLSchema" xmlns:p="http://schemas.microsoft.com/office/2006/metadata/properties" xmlns:ns3="0d7b4779-ce31-4165-a8f7-a787da7cfe2d" targetNamespace="http://schemas.microsoft.com/office/2006/metadata/properties" ma:root="true" ma:fieldsID="af971d53b1f9d5a449a1cd643c89f0d9" ns3:_="">
    <xsd:import namespace="0d7b4779-ce31-4165-a8f7-a787da7cfe2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7b4779-ce31-4165-a8f7-a787da7cfe2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C1FC14-6771-4CC5-AAA6-DE65A3F74930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0d7b4779-ce31-4165-a8f7-a787da7cfe2d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7AF51C2-1FCD-41FA-B79C-FB89AD3DC9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1FFD3D-767E-441F-81B2-B2B3DDF91B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7b4779-ce31-4165-a8f7-a787da7cfe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Words>575</Words>
  <Application>Microsoft Office PowerPoint</Application>
  <PresentationFormat>Widescreen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Verdana</vt:lpstr>
      <vt:lpstr>Office Theme</vt:lpstr>
      <vt:lpstr>Prachi Gautam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Bapat, Rashmi</dc:creator>
  <cp:lastModifiedBy>Gautam, Prachi</cp:lastModifiedBy>
  <cp:revision>14</cp:revision>
  <cp:lastPrinted>2025-09-01T19:19:13Z</cp:lastPrinted>
  <dcterms:created xsi:type="dcterms:W3CDTF">2025-09-01T17:02:27Z</dcterms:created>
  <dcterms:modified xsi:type="dcterms:W3CDTF">2025-12-10T06:28:59Z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2025-09-01T00:00:00Z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0x010100E0C2F85D8BD30D4BB14A803A7BB1AE82</vt:lpwstr>
  </property>
</Properties>
</file>